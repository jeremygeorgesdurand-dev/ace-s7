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365759" y="132523"/>
            <a:ext cx="11430001" cy="557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 b="1">
                <a:solidFill>
                  <a:srgbClr val="111827"/>
                </a:solidFill>
              </a:defRPr>
            </a:pPr>
            <a:r>
              <a:t>Schéma fonctionnel — Asservissement de température</a:t>
            </a:r>
          </a:p>
          <a:p>
            <a:pPr algn="ctr">
              <a:lnSpc>
                <a:spcPct val="110000"/>
              </a:lnSpc>
              <a:defRPr b="1">
                <a:solidFill>
                  <a:srgbClr val="111827"/>
                </a:solidFill>
              </a:defRPr>
            </a:pPr>
            <a:r>
              <a:t>(résistance chauffante pilotée / thermistance de mesure)</a:t>
            </a:r>
          </a:p>
        </p:txBody>
      </p:sp>
      <p:sp>
        <p:nvSpPr>
          <p:cNvPr id="21" name="Shape 1"/>
          <p:cNvSpPr/>
          <p:nvPr/>
        </p:nvSpPr>
        <p:spPr>
          <a:xfrm>
            <a:off x="111759" y="2788920"/>
            <a:ext cx="1280162" cy="1097281"/>
          </a:xfrm>
          <a:prstGeom prst="roundRect">
            <a:avLst>
              <a:gd name="adj" fmla="val 6667"/>
            </a:avLst>
          </a:prstGeom>
          <a:solidFill>
            <a:schemeClr val="accent6">
              <a:satOff val="-3457"/>
              <a:lumOff val="26078"/>
            </a:schemeClr>
          </a:solidFill>
          <a:ln w="19050">
            <a:solidFill>
              <a:srgbClr val="1F2937"/>
            </a:solidFill>
          </a:ln>
          <a:effectLst>
            <a:outerShdw sx="100000" sy="100000" kx="0" ky="0" algn="b" rotWithShape="0" blurRad="38100" dist="25400" dir="54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111759" y="3254179"/>
            <a:ext cx="12801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11827"/>
                </a:solidFill>
              </a:defRPr>
            </a:lvl1pPr>
          </a:lstStyle>
          <a:p>
            <a:pPr/>
            <a:r>
              <a:t>IHM</a:t>
            </a:r>
          </a:p>
        </p:txBody>
      </p:sp>
      <p:sp>
        <p:nvSpPr>
          <p:cNvPr id="23" name="Shape 3"/>
          <p:cNvSpPr/>
          <p:nvPr/>
        </p:nvSpPr>
        <p:spPr>
          <a:xfrm>
            <a:off x="1874520" y="1783079"/>
            <a:ext cx="1737361" cy="3108961"/>
          </a:xfrm>
          <a:prstGeom prst="roundRect">
            <a:avLst>
              <a:gd name="adj" fmla="val 4211"/>
            </a:avLst>
          </a:prstGeom>
          <a:solidFill>
            <a:srgbClr val="EEF2FF"/>
          </a:solidFill>
          <a:ln w="19050">
            <a:solidFill>
              <a:srgbClr val="1F2937"/>
            </a:solidFill>
          </a:ln>
          <a:effectLst>
            <a:outerShdw sx="100000" sy="100000" kx="0" ky="0" algn="b" rotWithShape="0" blurRad="38100" dist="25400" dir="54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1874520" y="3152578"/>
            <a:ext cx="173736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111827"/>
                </a:solidFill>
              </a:defRPr>
            </a:pPr>
            <a:r>
              <a:t>Micro-</a:t>
            </a:r>
          </a:p>
          <a:p>
            <a:pPr algn="ctr">
              <a:defRPr b="1" sz="1300">
                <a:solidFill>
                  <a:srgbClr val="111827"/>
                </a:solidFill>
              </a:defRPr>
            </a:pPr>
            <a:r>
              <a:t>contrôleur</a:t>
            </a:r>
          </a:p>
        </p:txBody>
      </p:sp>
      <p:sp>
        <p:nvSpPr>
          <p:cNvPr id="25" name="Shape 5"/>
          <p:cNvSpPr/>
          <p:nvPr/>
        </p:nvSpPr>
        <p:spPr>
          <a:xfrm>
            <a:off x="4069079" y="2788920"/>
            <a:ext cx="1554481" cy="1097281"/>
          </a:xfrm>
          <a:prstGeom prst="roundRect">
            <a:avLst>
              <a:gd name="adj" fmla="val 6667"/>
            </a:avLst>
          </a:prstGeom>
          <a:solidFill>
            <a:schemeClr val="accent2">
              <a:lumOff val="21960"/>
            </a:schemeClr>
          </a:solidFill>
          <a:ln w="19050">
            <a:solidFill>
              <a:srgbClr val="1F2937"/>
            </a:solidFill>
          </a:ln>
          <a:effectLst>
            <a:outerShdw sx="100000" sy="100000" kx="0" ky="0" algn="b" rotWithShape="0" blurRad="38100" dist="25400" dir="54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4069079" y="3152579"/>
            <a:ext cx="155448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111827"/>
                </a:solidFill>
              </a:defRPr>
            </a:pPr>
            <a:r>
              <a:t>Partie</a:t>
            </a:r>
          </a:p>
          <a:p>
            <a:pPr algn="ctr">
              <a:defRPr b="1" sz="1300">
                <a:solidFill>
                  <a:srgbClr val="111827"/>
                </a:solidFill>
              </a:defRPr>
            </a:pPr>
            <a:r>
              <a:t>puissance</a:t>
            </a:r>
          </a:p>
        </p:txBody>
      </p:sp>
      <p:sp>
        <p:nvSpPr>
          <p:cNvPr id="27" name="Shape 7"/>
          <p:cNvSpPr/>
          <p:nvPr/>
        </p:nvSpPr>
        <p:spPr>
          <a:xfrm>
            <a:off x="6309359" y="2788920"/>
            <a:ext cx="1554481" cy="1097281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9050">
            <a:solidFill>
              <a:srgbClr val="1F2937"/>
            </a:solidFill>
          </a:ln>
          <a:effectLst>
            <a:outerShdw sx="100000" sy="100000" kx="0" ky="0" algn="b" rotWithShape="0" blurRad="38100" dist="25400" dir="54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6309359" y="3068627"/>
            <a:ext cx="155448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111827"/>
                </a:solidFill>
              </a:defRPr>
            </a:pPr>
            <a:r>
              <a:t>Capteur de</a:t>
            </a:r>
          </a:p>
          <a:p>
            <a:pPr algn="ctr">
              <a:defRPr b="1" sz="1200">
                <a:solidFill>
                  <a:srgbClr val="111827"/>
                </a:solidFill>
              </a:defRPr>
            </a:pPr>
            <a:r>
              <a:t>courant</a:t>
            </a:r>
          </a:p>
          <a:p>
            <a:pPr algn="ctr">
              <a:defRPr b="1" sz="1200">
                <a:solidFill>
                  <a:srgbClr val="111827"/>
                </a:solidFill>
              </a:defRPr>
            </a:pPr>
            <a:r>
              <a:t>ACS712</a:t>
            </a:r>
          </a:p>
        </p:txBody>
      </p:sp>
      <p:sp>
        <p:nvSpPr>
          <p:cNvPr id="29" name="Shape 9"/>
          <p:cNvSpPr/>
          <p:nvPr/>
        </p:nvSpPr>
        <p:spPr>
          <a:xfrm>
            <a:off x="8321040" y="2788920"/>
            <a:ext cx="1554481" cy="1097281"/>
          </a:xfrm>
          <a:prstGeom prst="roundRect">
            <a:avLst>
              <a:gd name="adj" fmla="val 6667"/>
            </a:avLst>
          </a:prstGeom>
          <a:solidFill>
            <a:schemeClr val="accent2">
              <a:lumOff val="21960"/>
            </a:schemeClr>
          </a:solidFill>
          <a:ln w="12700">
            <a:solidFill>
              <a:srgbClr val="AD5B24"/>
            </a:solidFill>
            <a:miter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Text 10"/>
          <p:cNvSpPr txBox="1"/>
          <p:nvPr/>
        </p:nvSpPr>
        <p:spPr>
          <a:xfrm>
            <a:off x="8321040" y="3152579"/>
            <a:ext cx="155448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111827"/>
                </a:solidFill>
              </a:defRPr>
            </a:pPr>
            <a:r>
              <a:t>Résistance</a:t>
            </a:r>
          </a:p>
          <a:p>
            <a:pPr algn="ctr">
              <a:defRPr b="1" sz="1300">
                <a:solidFill>
                  <a:srgbClr val="111827"/>
                </a:solidFill>
              </a:defRPr>
            </a:pPr>
            <a:r>
              <a:t>chauffante</a:t>
            </a:r>
          </a:p>
        </p:txBody>
      </p:sp>
      <p:sp>
        <p:nvSpPr>
          <p:cNvPr id="31" name="Shape 11"/>
          <p:cNvSpPr/>
          <p:nvPr/>
        </p:nvSpPr>
        <p:spPr>
          <a:xfrm>
            <a:off x="10561319" y="2788920"/>
            <a:ext cx="1463041" cy="1097281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9050">
            <a:solidFill>
              <a:srgbClr val="1F2937"/>
            </a:solidFill>
          </a:ln>
          <a:effectLst>
            <a:outerShdw sx="100000" sy="100000" kx="0" ky="0" algn="b" rotWithShape="0" blurRad="38100" dist="25400" dir="54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" name="Text 12"/>
          <p:cNvSpPr txBox="1"/>
          <p:nvPr/>
        </p:nvSpPr>
        <p:spPr>
          <a:xfrm>
            <a:off x="10561319" y="3259127"/>
            <a:ext cx="14630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11827"/>
                </a:solidFill>
              </a:defRPr>
            </a:lvl1pPr>
          </a:lstStyle>
          <a:p>
            <a:pPr/>
            <a:r>
              <a:t>Thermistance</a:t>
            </a:r>
          </a:p>
        </p:txBody>
      </p:sp>
      <p:sp>
        <p:nvSpPr>
          <p:cNvPr id="33" name="Shape 13"/>
          <p:cNvSpPr/>
          <p:nvPr/>
        </p:nvSpPr>
        <p:spPr>
          <a:xfrm>
            <a:off x="6309359" y="4480559"/>
            <a:ext cx="1554481" cy="914401"/>
          </a:xfrm>
          <a:prstGeom prst="roundRect">
            <a:avLst>
              <a:gd name="adj" fmla="val 8000"/>
            </a:avLst>
          </a:prstGeom>
          <a:solidFill>
            <a:schemeClr val="accent2">
              <a:lumOff val="21960"/>
            </a:schemeClr>
          </a:solidFill>
          <a:ln w="19050">
            <a:solidFill>
              <a:srgbClr val="1F2937"/>
            </a:solidFill>
          </a:ln>
          <a:effectLst>
            <a:outerShdw sx="100000" sy="100000" kx="0" ky="0" algn="b" rotWithShape="0" blurRad="38100" dist="25400" dir="54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" name="Text 14"/>
          <p:cNvSpPr txBox="1"/>
          <p:nvPr/>
        </p:nvSpPr>
        <p:spPr>
          <a:xfrm>
            <a:off x="6309359" y="4854378"/>
            <a:ext cx="15544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11827"/>
                </a:solidFill>
              </a:defRPr>
            </a:lvl1pPr>
          </a:lstStyle>
          <a:p>
            <a:pPr/>
            <a:r>
              <a:t>Ventilateur</a:t>
            </a:r>
          </a:p>
        </p:txBody>
      </p:sp>
      <p:sp>
        <p:nvSpPr>
          <p:cNvPr id="35" name="Shape 15"/>
          <p:cNvSpPr/>
          <p:nvPr/>
        </p:nvSpPr>
        <p:spPr>
          <a:xfrm>
            <a:off x="10561319" y="4480559"/>
            <a:ext cx="1463041" cy="914401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9050">
            <a:solidFill>
              <a:srgbClr val="1F2937"/>
            </a:solidFill>
          </a:ln>
          <a:effectLst>
            <a:outerShdw sx="100000" sy="100000" kx="0" ky="0" algn="b" rotWithShape="0" blurRad="38100" dist="25400" dir="54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" name="Text 16"/>
          <p:cNvSpPr txBox="1"/>
          <p:nvPr/>
        </p:nvSpPr>
        <p:spPr>
          <a:xfrm>
            <a:off x="10561319" y="4788075"/>
            <a:ext cx="146304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111827"/>
                </a:solidFill>
              </a:defRPr>
            </a:pPr>
            <a:r>
              <a:t>Montage</a:t>
            </a:r>
          </a:p>
          <a:p>
            <a:pPr algn="ctr">
              <a:defRPr b="1" sz="1100">
                <a:solidFill>
                  <a:srgbClr val="111827"/>
                </a:solidFill>
              </a:defRPr>
            </a:pPr>
            <a:r>
              <a:t>conditionneur</a:t>
            </a:r>
          </a:p>
        </p:txBody>
      </p:sp>
      <p:sp>
        <p:nvSpPr>
          <p:cNvPr id="37" name="Shape 17"/>
          <p:cNvSpPr/>
          <p:nvPr/>
        </p:nvSpPr>
        <p:spPr>
          <a:xfrm>
            <a:off x="1391920" y="3337559"/>
            <a:ext cx="457201" cy="915"/>
          </a:xfrm>
          <a:prstGeom prst="line">
            <a:avLst/>
          </a:prstGeom>
          <a:ln w="19050">
            <a:solidFill>
              <a:srgbClr val="1F2937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8"/>
          <p:cNvSpPr txBox="1"/>
          <p:nvPr/>
        </p:nvSpPr>
        <p:spPr>
          <a:xfrm>
            <a:off x="1009981" y="3067802"/>
            <a:ext cx="1188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11827"/>
                </a:solidFill>
              </a:defRPr>
            </a:lvl1pPr>
          </a:lstStyle>
          <a:p>
            <a:pPr/>
            <a:r>
              <a:t>UART</a:t>
            </a:r>
          </a:p>
        </p:txBody>
      </p:sp>
      <p:sp>
        <p:nvSpPr>
          <p:cNvPr id="39" name="Shape 19"/>
          <p:cNvSpPr/>
          <p:nvPr/>
        </p:nvSpPr>
        <p:spPr>
          <a:xfrm>
            <a:off x="3611879" y="3337559"/>
            <a:ext cx="457201" cy="915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20"/>
          <p:cNvSpPr txBox="1"/>
          <p:nvPr/>
        </p:nvSpPr>
        <p:spPr>
          <a:xfrm>
            <a:off x="3246120" y="2994704"/>
            <a:ext cx="1188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11827"/>
                </a:solidFill>
              </a:defRPr>
            </a:lvl1pPr>
          </a:lstStyle>
          <a:p>
            <a:pPr/>
            <a:r>
              <a:t>PWM</a:t>
            </a:r>
          </a:p>
        </p:txBody>
      </p:sp>
      <p:sp>
        <p:nvSpPr>
          <p:cNvPr id="41" name="Shape 21"/>
          <p:cNvSpPr/>
          <p:nvPr/>
        </p:nvSpPr>
        <p:spPr>
          <a:xfrm>
            <a:off x="5623559" y="3337559"/>
            <a:ext cx="676277" cy="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22"/>
          <p:cNvSpPr txBox="1"/>
          <p:nvPr/>
        </p:nvSpPr>
        <p:spPr>
          <a:xfrm>
            <a:off x="5384800" y="2866434"/>
            <a:ext cx="118872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111827"/>
                </a:solidFill>
              </a:defRPr>
            </a:pPr>
            <a:r>
              <a:t>Tension</a:t>
            </a:r>
          </a:p>
          <a:p>
            <a:pPr algn="ctr">
              <a:defRPr sz="1000">
                <a:solidFill>
                  <a:srgbClr val="111827"/>
                </a:solidFill>
              </a:defRPr>
            </a:pPr>
            <a:r>
              <a:t>commande</a:t>
            </a:r>
          </a:p>
        </p:txBody>
      </p:sp>
      <p:sp>
        <p:nvSpPr>
          <p:cNvPr id="43" name="Shape 23"/>
          <p:cNvSpPr/>
          <p:nvPr/>
        </p:nvSpPr>
        <p:spPr>
          <a:xfrm>
            <a:off x="7863840" y="3337559"/>
            <a:ext cx="457201" cy="915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24"/>
          <p:cNvSpPr txBox="1"/>
          <p:nvPr/>
        </p:nvSpPr>
        <p:spPr>
          <a:xfrm>
            <a:off x="7498080" y="2994704"/>
            <a:ext cx="1188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11827"/>
                </a:solidFill>
              </a:defRPr>
            </a:lvl1pPr>
          </a:lstStyle>
          <a:p>
            <a:pPr/>
            <a:r>
              <a:t>Courant</a:t>
            </a:r>
          </a:p>
        </p:txBody>
      </p:sp>
      <p:sp>
        <p:nvSpPr>
          <p:cNvPr id="45" name="Shape 25"/>
          <p:cNvSpPr/>
          <p:nvPr/>
        </p:nvSpPr>
        <p:spPr>
          <a:xfrm>
            <a:off x="9875520" y="3338473"/>
            <a:ext cx="685800" cy="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26"/>
          <p:cNvSpPr txBox="1"/>
          <p:nvPr/>
        </p:nvSpPr>
        <p:spPr>
          <a:xfrm>
            <a:off x="9619297" y="2994704"/>
            <a:ext cx="1188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11827"/>
                </a:solidFill>
              </a:defRPr>
            </a:lvl1pPr>
          </a:lstStyle>
          <a:p>
            <a:pPr/>
            <a:r>
              <a:t>Mesurande</a:t>
            </a:r>
          </a:p>
        </p:txBody>
      </p:sp>
      <p:sp>
        <p:nvSpPr>
          <p:cNvPr id="47" name="Shape 27"/>
          <p:cNvSpPr/>
          <p:nvPr/>
        </p:nvSpPr>
        <p:spPr>
          <a:xfrm>
            <a:off x="11292840" y="3886200"/>
            <a:ext cx="915" cy="59436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28"/>
          <p:cNvSpPr txBox="1"/>
          <p:nvPr/>
        </p:nvSpPr>
        <p:spPr>
          <a:xfrm>
            <a:off x="11201400" y="4032294"/>
            <a:ext cx="118872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111827"/>
                </a:solidFill>
              </a:defRPr>
            </a:pPr>
            <a:r>
              <a:t>Variation</a:t>
            </a:r>
          </a:p>
          <a:p>
            <a:pPr algn="ctr">
              <a:defRPr sz="1000">
                <a:solidFill>
                  <a:srgbClr val="111827"/>
                </a:solidFill>
              </a:defRPr>
            </a:pPr>
            <a:r>
              <a:t>résistance</a:t>
            </a:r>
          </a:p>
        </p:txBody>
      </p:sp>
      <p:sp>
        <p:nvSpPr>
          <p:cNvPr id="49" name="Shape 29"/>
          <p:cNvSpPr/>
          <p:nvPr/>
        </p:nvSpPr>
        <p:spPr>
          <a:xfrm>
            <a:off x="4846320" y="3886199"/>
            <a:ext cx="1" cy="1069412"/>
          </a:xfrm>
          <a:prstGeom prst="line">
            <a:avLst/>
          </a:prstGeom>
          <a:ln w="19050">
            <a:solidFill>
              <a:srgbClr val="1F29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30"/>
          <p:cNvSpPr/>
          <p:nvPr/>
        </p:nvSpPr>
        <p:spPr>
          <a:xfrm>
            <a:off x="4860600" y="4920429"/>
            <a:ext cx="1444005" cy="1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31"/>
          <p:cNvSpPr txBox="1"/>
          <p:nvPr/>
        </p:nvSpPr>
        <p:spPr>
          <a:xfrm>
            <a:off x="3782059" y="4080203"/>
            <a:ext cx="1188721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rgbClr val="111827"/>
                </a:solidFill>
              </a:defRPr>
            </a:pPr>
            <a:r>
              <a:t>Tension</a:t>
            </a:r>
          </a:p>
          <a:p>
            <a:pPr algn="ctr">
              <a:defRPr sz="900">
                <a:solidFill>
                  <a:srgbClr val="111827"/>
                </a:solidFill>
              </a:defRPr>
            </a:pPr>
            <a:r>
              <a:t>commande</a:t>
            </a:r>
          </a:p>
        </p:txBody>
      </p:sp>
      <p:sp>
        <p:nvSpPr>
          <p:cNvPr id="52" name="Shape 32"/>
          <p:cNvSpPr/>
          <p:nvPr/>
        </p:nvSpPr>
        <p:spPr>
          <a:xfrm>
            <a:off x="7863840" y="4937759"/>
            <a:ext cx="1234448" cy="1"/>
          </a:xfrm>
          <a:prstGeom prst="line">
            <a:avLst/>
          </a:prstGeom>
          <a:ln w="19050">
            <a:solidFill>
              <a:srgbClr val="1F29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34"/>
          <p:cNvSpPr/>
          <p:nvPr/>
        </p:nvSpPr>
        <p:spPr>
          <a:xfrm flipV="1">
            <a:off x="9098280" y="3886200"/>
            <a:ext cx="1" cy="106941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35"/>
          <p:cNvSpPr txBox="1"/>
          <p:nvPr/>
        </p:nvSpPr>
        <p:spPr>
          <a:xfrm>
            <a:off x="8136596" y="4166935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111827"/>
                </a:solidFill>
              </a:defRPr>
            </a:lvl1pPr>
          </a:lstStyle>
          <a:p>
            <a:pPr/>
            <a:r>
              <a:t>Convection</a:t>
            </a:r>
          </a:p>
        </p:txBody>
      </p:sp>
      <p:sp>
        <p:nvSpPr>
          <p:cNvPr id="55" name="Shape 36"/>
          <p:cNvSpPr/>
          <p:nvPr/>
        </p:nvSpPr>
        <p:spPr>
          <a:xfrm flipV="1">
            <a:off x="7086600" y="868679"/>
            <a:ext cx="915" cy="1920241"/>
          </a:xfrm>
          <a:prstGeom prst="line">
            <a:avLst/>
          </a:prstGeom>
          <a:ln w="1905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37"/>
          <p:cNvSpPr/>
          <p:nvPr/>
        </p:nvSpPr>
        <p:spPr>
          <a:xfrm flipH="1">
            <a:off x="2770631" y="868680"/>
            <a:ext cx="4315969" cy="915"/>
          </a:xfrm>
          <a:prstGeom prst="line">
            <a:avLst/>
          </a:prstGeom>
          <a:ln w="1905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38"/>
          <p:cNvSpPr/>
          <p:nvPr/>
        </p:nvSpPr>
        <p:spPr>
          <a:xfrm>
            <a:off x="2742357" y="864035"/>
            <a:ext cx="915" cy="914401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39"/>
          <p:cNvSpPr/>
          <p:nvPr/>
        </p:nvSpPr>
        <p:spPr>
          <a:xfrm>
            <a:off x="11292382" y="5394983"/>
            <a:ext cx="915" cy="365761"/>
          </a:xfrm>
          <a:prstGeom prst="line">
            <a:avLst/>
          </a:prstGeom>
          <a:ln w="19050">
            <a:solidFill>
              <a:srgbClr val="0596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40"/>
          <p:cNvSpPr/>
          <p:nvPr/>
        </p:nvSpPr>
        <p:spPr>
          <a:xfrm flipH="1" flipV="1">
            <a:off x="2729522" y="5761634"/>
            <a:ext cx="8575189" cy="1"/>
          </a:xfrm>
          <a:prstGeom prst="line">
            <a:avLst/>
          </a:prstGeom>
          <a:ln w="19050">
            <a:solidFill>
              <a:srgbClr val="0596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Shape 41"/>
          <p:cNvSpPr/>
          <p:nvPr/>
        </p:nvSpPr>
        <p:spPr>
          <a:xfrm flipV="1">
            <a:off x="2742360" y="4892944"/>
            <a:ext cx="915" cy="868681"/>
          </a:xfrm>
          <a:prstGeom prst="line">
            <a:avLst/>
          </a:prstGeom>
          <a:ln w="19050">
            <a:solidFill>
              <a:srgbClr val="059669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43"/>
          <p:cNvSpPr txBox="1"/>
          <p:nvPr/>
        </p:nvSpPr>
        <p:spPr>
          <a:xfrm>
            <a:off x="1424744" y="1369280"/>
            <a:ext cx="16459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111827"/>
                </a:solidFill>
              </a:defRPr>
            </a:pPr>
            <a:r>
              <a:t>Tension</a:t>
            </a:r>
          </a:p>
          <a:p>
            <a:pPr algn="ctr">
              <a:defRPr sz="1000">
                <a:solidFill>
                  <a:srgbClr val="111827"/>
                </a:solidFill>
              </a:defRPr>
            </a:pPr>
            <a:r>
              <a:t>Sortie capteur</a:t>
            </a:r>
          </a:p>
        </p:txBody>
      </p:sp>
      <p:sp>
        <p:nvSpPr>
          <p:cNvPr id="62" name="Text 44"/>
          <p:cNvSpPr txBox="1"/>
          <p:nvPr/>
        </p:nvSpPr>
        <p:spPr>
          <a:xfrm>
            <a:off x="365759" y="6035040"/>
            <a:ext cx="8229601" cy="27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374151"/>
                </a:solidFill>
              </a:defRPr>
            </a:pPr>
            <a:r>
              <a:t>Boucle bleue : retour capteur de courant (ACS712)</a:t>
            </a:r>
          </a:p>
          <a:p>
            <a:pPr>
              <a:lnSpc>
                <a:spcPct val="120000"/>
              </a:lnSpc>
              <a:defRPr sz="900">
                <a:solidFill>
                  <a:srgbClr val="374151"/>
                </a:solidFill>
              </a:defRPr>
            </a:pPr>
            <a:r>
              <a:t>Boucle verte : retour chaîne de mesure de température (thermistance + conditionneur)</a:t>
            </a:r>
          </a:p>
        </p:txBody>
      </p:sp>
      <p:sp>
        <p:nvSpPr>
          <p:cNvPr id="63" name="Text 31"/>
          <p:cNvSpPr txBox="1"/>
          <p:nvPr/>
        </p:nvSpPr>
        <p:spPr>
          <a:xfrm>
            <a:off x="1653344" y="5150311"/>
            <a:ext cx="118872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rgbClr val="111827"/>
                </a:solidFill>
              </a:defRPr>
            </a:pPr>
            <a:r>
              <a:t>Variation</a:t>
            </a:r>
          </a:p>
          <a:p>
            <a:pPr algn="ctr">
              <a:defRPr sz="900">
                <a:solidFill>
                  <a:srgbClr val="111827"/>
                </a:solidFill>
              </a:defRPr>
            </a:pPr>
            <a:r>
              <a:t>Tension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